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034" autoAdjust="0"/>
  </p:normalViewPr>
  <p:slideViewPr>
    <p:cSldViewPr snapToGrid="0">
      <p:cViewPr varScale="1">
        <p:scale>
          <a:sx n="90" d="100"/>
          <a:sy n="90" d="100"/>
        </p:scale>
        <p:origin x="81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v>Share of fatal crashes</c:v>
          </c:tx>
          <c:dPt>
            <c:idx val="0"/>
            <c:bubble3D val="0"/>
            <c:spPr>
              <a:solidFill>
                <a:srgbClr val="D97706"/>
              </a:solidFill>
            </c:spPr>
            <c:extLst>
              <c:ext xmlns:c16="http://schemas.microsoft.com/office/drawing/2014/chart" uri="{C3380CC4-5D6E-409C-BE32-E72D297353CC}">
                <c16:uniqueId val="{00000001-E93F-481D-A633-21B2209901FD}"/>
              </c:ext>
            </c:extLst>
          </c:dPt>
          <c:dPt>
            <c:idx val="1"/>
            <c:bubble3D val="0"/>
            <c:spPr>
              <a:solidFill>
                <a:srgbClr val="0F8B8D"/>
              </a:solidFill>
            </c:spPr>
            <c:extLst>
              <c:ext xmlns:c16="http://schemas.microsoft.com/office/drawing/2014/chart" uri="{C3380CC4-5D6E-409C-BE32-E72D297353CC}">
                <c16:uniqueId val="{00000003-E93F-481D-A633-21B2209901FD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 b="1">
                    <a:solidFill>
                      <a:srgbClr val="17324D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Lit>
              <c:ptCount val="2"/>
              <c:pt idx="0">
                <c:v>Rural</c:v>
              </c:pt>
              <c:pt idx="1">
                <c:v>Urban</c:v>
              </c:pt>
            </c:strLit>
          </c:cat>
          <c:val>
            <c:numLit>
              <c:formatCode>General</c:formatCode>
              <c:ptCount val="2"/>
              <c:pt idx="0">
                <c:v>15064</c:v>
              </c:pt>
              <c:pt idx="1">
                <c:v>22516</c:v>
              </c:pt>
            </c:numLit>
          </c:val>
          <c:extLst>
            <c:ext xmlns:c16="http://schemas.microsoft.com/office/drawing/2014/chart" uri="{C3380CC4-5D6E-409C-BE32-E72D297353CC}">
              <c16:uniqueId val="{00000004-E93F-481D-A633-21B2209901FD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270"/>
        <c:holeSize val="62"/>
      </c:doughnutChart>
    </c:plotArea>
    <c:plotVisOnly val="1"/>
    <c:dispBlanksAs val="zero"/>
    <c:showDLblsOverMax val="1"/>
  </c:chart>
  <c:spPr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Fatalities per 100 crashes</c:v>
          </c:tx>
          <c:spPr>
            <a:solidFill>
              <a:srgbClr val="D97706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D97706"/>
              </a:solidFill>
            </c:spPr>
            <c:extLst>
              <c:ext xmlns:c16="http://schemas.microsoft.com/office/drawing/2014/chart" uri="{C3380CC4-5D6E-409C-BE32-E72D297353CC}">
                <c16:uniqueId val="{00000001-44A6-4591-BBA6-E588CA7527EE}"/>
              </c:ext>
            </c:extLst>
          </c:dPt>
          <c:dPt>
            <c:idx val="1"/>
            <c:invertIfNegative val="0"/>
            <c:bubble3D val="0"/>
            <c:spPr>
              <a:solidFill>
                <a:srgbClr val="0F8B8D"/>
              </a:solidFill>
            </c:spPr>
            <c:extLst>
              <c:ext xmlns:c16="http://schemas.microsoft.com/office/drawing/2014/chart" uri="{C3380CC4-5D6E-409C-BE32-E72D297353CC}">
                <c16:uniqueId val="{00000003-44A6-4591-BBA6-E588CA7527EE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17324D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Rural</c:v>
              </c:pt>
              <c:pt idx="1">
                <c:v>Urban</c:v>
              </c:pt>
            </c:strLit>
          </c:cat>
          <c:val>
            <c:numLit>
              <c:formatCode>0</c:formatCode>
              <c:ptCount val="2"/>
              <c:pt idx="0">
                <c:v>111.5</c:v>
              </c:pt>
              <c:pt idx="1">
                <c:v>106.8</c:v>
              </c:pt>
            </c:numLit>
          </c:val>
          <c:extLst>
            <c:ext xmlns:c16="http://schemas.microsoft.com/office/drawing/2014/chart" uri="{C3380CC4-5D6E-409C-BE32-E72D297353CC}">
              <c16:uniqueId val="{00000004-44A6-4591-BBA6-E588CA7527E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15"/>
          <c:min val="100"/>
        </c:scaling>
        <c:delete val="0"/>
        <c:axPos val="l"/>
        <c:majorGridlines>
          <c:spPr>
            <a:ln w="9525">
              <a:solidFill>
                <a:srgbClr val="D7E1E6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5"/>
      </c:valAx>
    </c:plotArea>
    <c:plotVisOnly val="1"/>
    <c:dispBlanksAs val="zero"/>
    <c:showDLblsOverMax val="1"/>
  </c:chart>
  <c:spPr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Speed-related crashes</c:v>
          </c:tx>
          <c:spPr>
            <a:solidFill>
              <a:srgbClr val="0F8B8D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D97706"/>
              </a:solidFill>
            </c:spPr>
            <c:extLst>
              <c:ext xmlns:c16="http://schemas.microsoft.com/office/drawing/2014/chart" uri="{C3380CC4-5D6E-409C-BE32-E72D297353CC}">
                <c16:uniqueId val="{00000001-3239-4191-BFC9-4F512E8113F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239-4191-BFC9-4F512E8113F6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17324D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Rural</c:v>
              </c:pt>
              <c:pt idx="1">
                <c:v>Urban</c:v>
              </c:pt>
            </c:strLit>
          </c:cat>
          <c:val>
            <c:numLit>
              <c:formatCode>0%</c:formatCode>
              <c:ptCount val="2"/>
              <c:pt idx="0">
                <c:v>0.3009</c:v>
              </c:pt>
              <c:pt idx="1">
                <c:v>0.31140000000000001</c:v>
              </c:pt>
            </c:numLit>
          </c:val>
          <c:extLst>
            <c:ext xmlns:c16="http://schemas.microsoft.com/office/drawing/2014/chart" uri="{C3380CC4-5D6E-409C-BE32-E72D297353CC}">
              <c16:uniqueId val="{00000004-3239-4191-BFC9-4F512E8113F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35"/>
          <c:min val="0"/>
        </c:scaling>
        <c:delete val="0"/>
        <c:axPos val="l"/>
        <c:majorGridlines>
          <c:spPr>
            <a:ln w="9525">
              <a:solidFill>
                <a:srgbClr val="D7E1E6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0.05"/>
      </c:valAx>
    </c:plotArea>
    <c:plotVisOnly val="1"/>
    <c:dispBlanksAs val="zero"/>
    <c:showDLblsOverMax val="1"/>
  </c:chart>
  <c:spPr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percentStacked"/>
        <c:varyColors val="0"/>
        <c:ser>
          <c:idx val="0"/>
          <c:order val="0"/>
          <c:tx>
            <c:v>Interstate / freeway</c:v>
          </c:tx>
          <c:spPr>
            <a:solidFill>
              <a:srgbClr val="264653"/>
            </a:solidFill>
          </c:spPr>
          <c:invertIfNegative val="0"/>
          <c:cat>
            <c:strLit>
              <c:ptCount val="2"/>
              <c:pt idx="0">
                <c:v>Rural</c:v>
              </c:pt>
              <c:pt idx="1">
                <c:v>Urban</c:v>
              </c:pt>
            </c:strLit>
          </c:cat>
          <c:val>
            <c:numLit>
              <c:formatCode>General</c:formatCode>
              <c:ptCount val="2"/>
              <c:pt idx="0">
                <c:v>0.1245</c:v>
              </c:pt>
              <c:pt idx="1">
                <c:v>0.1918</c:v>
              </c:pt>
            </c:numLit>
          </c:val>
          <c:extLst>
            <c:ext xmlns:c16="http://schemas.microsoft.com/office/drawing/2014/chart" uri="{C3380CC4-5D6E-409C-BE32-E72D297353CC}">
              <c16:uniqueId val="{00000000-D46F-4028-954B-E1891F92523E}"/>
            </c:ext>
          </c:extLst>
        </c:ser>
        <c:ser>
          <c:idx val="1"/>
          <c:order val="1"/>
          <c:tx>
            <c:v>Arterial</c:v>
          </c:tx>
          <c:spPr>
            <a:solidFill>
              <a:srgbClr val="2A9D8F"/>
            </a:solidFill>
          </c:spPr>
          <c:invertIfNegative val="0"/>
          <c:cat>
            <c:strLit>
              <c:ptCount val="2"/>
              <c:pt idx="0">
                <c:v>Rural</c:v>
              </c:pt>
              <c:pt idx="1">
                <c:v>Urban</c:v>
              </c:pt>
            </c:strLit>
          </c:cat>
          <c:val>
            <c:numLit>
              <c:formatCode>General</c:formatCode>
              <c:ptCount val="2"/>
              <c:pt idx="0">
                <c:v>0.42349999999999999</c:v>
              </c:pt>
              <c:pt idx="1">
                <c:v>0.60370000000000001</c:v>
              </c:pt>
            </c:numLit>
          </c:val>
          <c:extLst>
            <c:ext xmlns:c16="http://schemas.microsoft.com/office/drawing/2014/chart" uri="{C3380CC4-5D6E-409C-BE32-E72D297353CC}">
              <c16:uniqueId val="{00000001-D46F-4028-954B-E1891F92523E}"/>
            </c:ext>
          </c:extLst>
        </c:ser>
        <c:ser>
          <c:idx val="2"/>
          <c:order val="2"/>
          <c:tx>
            <c:v>Collector</c:v>
          </c:tx>
          <c:spPr>
            <a:solidFill>
              <a:srgbClr val="E9C46A"/>
            </a:solidFill>
          </c:spPr>
          <c:invertIfNegative val="0"/>
          <c:cat>
            <c:strLit>
              <c:ptCount val="2"/>
              <c:pt idx="0">
                <c:v>Rural</c:v>
              </c:pt>
              <c:pt idx="1">
                <c:v>Urban</c:v>
              </c:pt>
            </c:strLit>
          </c:cat>
          <c:val>
            <c:numLit>
              <c:formatCode>General</c:formatCode>
              <c:ptCount val="2"/>
              <c:pt idx="0">
                <c:v>0.30730000000000002</c:v>
              </c:pt>
              <c:pt idx="1">
                <c:v>0.1217</c:v>
              </c:pt>
            </c:numLit>
          </c:val>
          <c:extLst>
            <c:ext xmlns:c16="http://schemas.microsoft.com/office/drawing/2014/chart" uri="{C3380CC4-5D6E-409C-BE32-E72D297353CC}">
              <c16:uniqueId val="{00000002-D46F-4028-954B-E1891F92523E}"/>
            </c:ext>
          </c:extLst>
        </c:ser>
        <c:ser>
          <c:idx val="3"/>
          <c:order val="3"/>
          <c:tx>
            <c:v>Local</c:v>
          </c:tx>
          <c:spPr>
            <a:solidFill>
              <a:srgbClr val="F4A261"/>
            </a:solidFill>
          </c:spPr>
          <c:invertIfNegative val="0"/>
          <c:cat>
            <c:strLit>
              <c:ptCount val="2"/>
              <c:pt idx="0">
                <c:v>Rural</c:v>
              </c:pt>
              <c:pt idx="1">
                <c:v>Urban</c:v>
              </c:pt>
            </c:strLit>
          </c:cat>
          <c:val>
            <c:numLit>
              <c:formatCode>General</c:formatCode>
              <c:ptCount val="2"/>
              <c:pt idx="0">
                <c:v>0.13969999999999999</c:v>
              </c:pt>
              <c:pt idx="1">
                <c:v>8.14E-2</c:v>
              </c:pt>
            </c:numLit>
          </c:val>
          <c:extLst>
            <c:ext xmlns:c16="http://schemas.microsoft.com/office/drawing/2014/chart" uri="{C3380CC4-5D6E-409C-BE32-E72D297353CC}">
              <c16:uniqueId val="{00000003-D46F-4028-954B-E1891F92523E}"/>
            </c:ext>
          </c:extLst>
        </c:ser>
        <c:ser>
          <c:idx val="4"/>
          <c:order val="4"/>
          <c:tx>
            <c:v>Unknown</c:v>
          </c:tx>
          <c:spPr>
            <a:solidFill>
              <a:srgbClr val="B7C4CC"/>
            </a:solidFill>
          </c:spPr>
          <c:invertIfNegative val="0"/>
          <c:cat>
            <c:strLit>
              <c:ptCount val="2"/>
              <c:pt idx="0">
                <c:v>Rural</c:v>
              </c:pt>
              <c:pt idx="1">
                <c:v>Urban</c:v>
              </c:pt>
            </c:strLit>
          </c:cat>
          <c:val>
            <c:numLit>
              <c:formatCode>General</c:formatCode>
              <c:ptCount val="2"/>
              <c:pt idx="0">
                <c:v>5.0000000000000001E-3</c:v>
              </c:pt>
              <c:pt idx="1">
                <c:v>1.5E-3</c:v>
              </c:pt>
            </c:numLit>
          </c:val>
          <c:extLst>
            <c:ext xmlns:c16="http://schemas.microsoft.com/office/drawing/2014/chart" uri="{C3380CC4-5D6E-409C-BE32-E72D297353CC}">
              <c16:uniqueId val="{00000004-D46F-4028-954B-E1891F9252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  <c:txPr>
        <a:bodyPr anchorCtr="1"/>
        <a:lstStyle/>
        <a:p>
          <a:pPr>
            <a:defRPr sz="825">
              <a:solidFill>
                <a:srgbClr val="203040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Adverse weather</c:v>
          </c:tx>
          <c:spPr>
            <a:solidFill>
              <a:srgbClr val="D1495B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D97706"/>
              </a:solidFill>
            </c:spPr>
            <c:extLst>
              <c:ext xmlns:c16="http://schemas.microsoft.com/office/drawing/2014/chart" uri="{C3380CC4-5D6E-409C-BE32-E72D297353CC}">
                <c16:uniqueId val="{00000001-0194-4F12-A83A-0298A511BAC6}"/>
              </c:ext>
            </c:extLst>
          </c:dPt>
          <c:dPt>
            <c:idx val="1"/>
            <c:invertIfNegative val="0"/>
            <c:bubble3D val="0"/>
            <c:spPr>
              <a:solidFill>
                <a:srgbClr val="0F8B8D"/>
              </a:solidFill>
            </c:spPr>
            <c:extLst>
              <c:ext xmlns:c16="http://schemas.microsoft.com/office/drawing/2014/chart" uri="{C3380CC4-5D6E-409C-BE32-E72D297353CC}">
                <c16:uniqueId val="{00000003-0194-4F12-A83A-0298A511BAC6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17324D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Rural</c:v>
              </c:pt>
              <c:pt idx="1">
                <c:v>Urban</c:v>
              </c:pt>
            </c:strLit>
          </c:cat>
          <c:val>
            <c:numLit>
              <c:formatCode>General</c:formatCode>
              <c:ptCount val="2"/>
              <c:pt idx="0">
                <c:v>0.1024</c:v>
              </c:pt>
              <c:pt idx="1">
                <c:v>8.3599999999999994E-2</c:v>
              </c:pt>
            </c:numLit>
          </c:val>
          <c:extLst>
            <c:ext xmlns:c16="http://schemas.microsoft.com/office/drawing/2014/chart" uri="{C3380CC4-5D6E-409C-BE32-E72D297353CC}">
              <c16:uniqueId val="{00000004-0194-4F12-A83A-0298A511BAC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7E1E6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 b="1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spPr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470964A-DBA1-4312-912D-BCE7F5AC8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15D8001-44BD-4E73-AB89-427A4C489F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701B9C1-3F4C-48EC-A950-CBAF713B7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B8B339-1263-4341-9DB0-CE70B830B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7579315-F630-4F4E-8350-A0694C9CD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246C52F-2C1E-4CA0-BC83-C35B8B8FB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215EF7E-0398-4DD7-A640-88A17B859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5763EB8-BDB4-4F91-AED2-DDA504A172A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BCB9569-CF7F-4F25-9012-743E613AF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1C5EF78-E533-4668-A750-0E450C9F5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8B17657-4BE6-4ABA-A1F0-C88D27865F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A55BEC4-B1EB-46A0-B7C1-EB148BB361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381750" cy="6858000"/>
          </a:xfrm>
          <a:prstGeom prst="rect">
            <a:avLst/>
          </a:prstGeom>
          <a:ln w="0"/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8CC0C0-9564-4906-A7A7-C6EA76FEE710}"/>
              </a:ext>
            </a:extLst>
          </p:cNvPr>
          <p:cNvSpPr>
            <a:spLocks noGrp="1"/>
          </p:cNvSpPr>
          <p:nvPr/>
        </p:nvSpPr>
        <p:spPr>
          <a:xfrm>
            <a:off x="666750" y="1028700"/>
            <a:ext cx="95250" cy="4333875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340C55-23CE-474E-A474-619D31C52E2C}"/>
              </a:ext>
            </a:extLst>
          </p:cNvPr>
          <p:cNvSpPr>
            <a:spLocks noGrp="1"/>
          </p:cNvSpPr>
          <p:nvPr/>
        </p:nvSpPr>
        <p:spPr>
          <a:xfrm>
            <a:off x="1143000" y="1162050"/>
            <a:ext cx="4857750" cy="1714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Rural and Urban</a:t>
            </a:r>
          </a:p>
          <a:p>
            <a:pPr algn="l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Fatal Crashes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43904D-E853-4111-9048-107B2E1950C6}"/>
              </a:ext>
            </a:extLst>
          </p:cNvPr>
          <p:cNvSpPr>
            <a:spLocks noGrp="1"/>
          </p:cNvSpPr>
          <p:nvPr/>
        </p:nvSpPr>
        <p:spPr>
          <a:xfrm>
            <a:off x="1181100" y="3095625"/>
            <a:ext cx="4476750" cy="762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800" b="0">
                <a:solidFill>
                  <a:srgbClr val="D9E6EB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D9E6EB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D9E6EB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D9E6EB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D9E6EB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D9E6EB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D9E6EB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D9E6EB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D9E6EB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D9E6E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D9E6E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9E6EB"/>
                </a:solidFill>
                <a:latin typeface="Arial"/>
                <a:ea typeface="Arial"/>
                <a:cs typeface="Arial"/>
              </a:rPr>
              <a:t>How do speeding, roadway type, and weather differ?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9690FF-3017-49E3-852E-919160AE4D9C}"/>
              </a:ext>
            </a:extLst>
          </p:cNvPr>
          <p:cNvSpPr>
            <a:spLocks noGrp="1"/>
          </p:cNvSpPr>
          <p:nvPr/>
        </p:nvSpPr>
        <p:spPr>
          <a:xfrm>
            <a:off x="1181100" y="4857750"/>
            <a:ext cx="333375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350" b="1">
                <a:solidFill>
                  <a:srgbClr val="FFD394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D394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D394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D394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D394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D394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D394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D394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D394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D394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FFD39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394"/>
                </a:solidFill>
                <a:latin typeface="Arial"/>
                <a:ea typeface="Arial"/>
                <a:cs typeface="Arial"/>
              </a:rPr>
              <a:t>DATA 110 Project 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BEB6EE-9A26-40BC-BFE6-599578435892}"/>
              </a:ext>
            </a:extLst>
          </p:cNvPr>
          <p:cNvSpPr>
            <a:spLocks noGrp="1"/>
          </p:cNvSpPr>
          <p:nvPr/>
        </p:nvSpPr>
        <p:spPr>
          <a:xfrm>
            <a:off x="1181100" y="525780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125" b="0">
                <a:solidFill>
                  <a:srgbClr val="D9E6EB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D9E6EB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D9E6EB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D9E6EB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D9E6EB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D9E6EB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D9E6EB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D9E6EB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D9E6EB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D9E6E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D9E6E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9E6EB"/>
                </a:solidFill>
                <a:latin typeface="Arial"/>
                <a:ea typeface="Arial"/>
                <a:cs typeface="Arial"/>
              </a:rPr>
              <a:t>Official NHTSA FARS data, 2023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4BA854-D468-4F50-8502-2E08E1952A22}"/>
              </a:ext>
            </a:extLst>
          </p:cNvPr>
          <p:cNvSpPr>
            <a:spLocks noGrp="1"/>
          </p:cNvSpPr>
          <p:nvPr/>
        </p:nvSpPr>
        <p:spPr>
          <a:xfrm>
            <a:off x="1181100" y="5657850"/>
            <a:ext cx="3714750" cy="304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Enda Hughes</a:t>
            </a:r>
          </a:p>
        </p:txBody>
      </p:sp>
    </p:spTree>
    <p:extLst>
      <p:ext uri="{BB962C8B-B14F-4D97-AF65-F5344CB8AC3E}">
        <p14:creationId xmlns:p14="http://schemas.microsoft.com/office/powerpoint/2010/main" val="1109817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6CCF2FB-F899-4809-8EE3-B9BE50CAD7C0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28700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Research question and official data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0275CD-E392-474D-8BA1-81110D8E529F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5778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CAF72D-2965-4333-80A4-CDFC2F02753B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47625"/>
          </a:xfrm>
          <a:prstGeom prst="rect">
            <a:avLst/>
          </a:prstGeom>
          <a:solidFill>
            <a:srgbClr val="0F8B8D"/>
          </a:solidFill>
          <a:ln w="0">
            <a:solidFill>
              <a:srgbClr val="0F8B8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807332-E163-4319-BCFA-D33F56D54AA9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5429250" cy="1428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24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4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4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4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4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4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4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4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4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4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4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How do fatal crashes on rural roads differ from those on urban roads?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3D7798-A236-4F7D-9ABD-DAEE92842D68}"/>
              </a:ext>
            </a:extLst>
          </p:cNvPr>
          <p:cNvSpPr>
            <a:spLocks noGrp="1"/>
          </p:cNvSpPr>
          <p:nvPr/>
        </p:nvSpPr>
        <p:spPr>
          <a:xfrm>
            <a:off x="762000" y="3048000"/>
            <a:ext cx="5191125" cy="1000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5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7781"/>
                </a:solidFill>
                <a:latin typeface="Arial"/>
                <a:ea typeface="Arial"/>
                <a:cs typeface="Arial"/>
              </a:rPr>
              <a:t>The comparison focuses on speeding involvement, roadway type, weather, and fatalities per crash.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685DAA-352E-4868-8EF6-09251AFD46D7}"/>
              </a:ext>
            </a:extLst>
          </p:cNvPr>
          <p:cNvSpPr>
            <a:spLocks noGrp="1"/>
          </p:cNvSpPr>
          <p:nvPr/>
        </p:nvSpPr>
        <p:spPr>
          <a:xfrm>
            <a:off x="6477000" y="1476375"/>
            <a:ext cx="19050" cy="3857625"/>
          </a:xfrm>
          <a:prstGeom prst="rect">
            <a:avLst/>
          </a:prstGeom>
          <a:solidFill>
            <a:srgbClr val="D7E1E6"/>
          </a:solidFill>
          <a:ln w="0">
            <a:solidFill>
              <a:srgbClr val="D7E1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4DCDFE-912D-406B-B4E8-8A657B894AF5}"/>
              </a:ext>
            </a:extLst>
          </p:cNvPr>
          <p:cNvSpPr>
            <a:spLocks noGrp="1"/>
          </p:cNvSpPr>
          <p:nvPr/>
        </p:nvSpPr>
        <p:spPr>
          <a:xfrm>
            <a:off x="7000875" y="1476375"/>
            <a:ext cx="2381250" cy="6858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34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defPPr>
            <a:lvl1pPr algn="l">
              <a:defRPr sz="34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1pPr>
            <a:lvl2pPr algn="l">
              <a:defRPr sz="34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2pPr>
            <a:lvl3pPr algn="l">
              <a:defRPr sz="34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3pPr>
            <a:lvl4pPr algn="l">
              <a:defRPr sz="34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4pPr>
            <a:lvl5pPr algn="l">
              <a:defRPr sz="34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5pPr>
            <a:lvl6pPr algn="l">
              <a:defRPr sz="34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6pPr>
            <a:lvl7pPr algn="l">
              <a:defRPr sz="34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7pPr>
            <a:lvl8pPr algn="l">
              <a:defRPr sz="34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8pPr>
            <a:lvl9pPr algn="l">
              <a:defRPr sz="34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4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37,769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FB594D-2420-4648-8735-333C4FB5D329}"/>
              </a:ext>
            </a:extLst>
          </p:cNvPr>
          <p:cNvSpPr>
            <a:spLocks noGrp="1"/>
          </p:cNvSpPr>
          <p:nvPr/>
        </p:nvSpPr>
        <p:spPr>
          <a:xfrm>
            <a:off x="7000875" y="2095500"/>
            <a:ext cx="37147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781"/>
                </a:solidFill>
                <a:latin typeface="Arial"/>
                <a:ea typeface="Arial"/>
                <a:cs typeface="Arial"/>
              </a:rPr>
              <a:t>fatal crashes in the national file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FCA5E0-9C20-4370-BCAA-1BDB4661E102}"/>
              </a:ext>
            </a:extLst>
          </p:cNvPr>
          <p:cNvSpPr>
            <a:spLocks noGrp="1"/>
          </p:cNvSpPr>
          <p:nvPr/>
        </p:nvSpPr>
        <p:spPr>
          <a:xfrm>
            <a:off x="7000875" y="2952750"/>
            <a:ext cx="3429000" cy="619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28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8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8B8D"/>
                </a:solidFill>
                <a:latin typeface="Arial"/>
                <a:ea typeface="Arial"/>
                <a:cs typeface="Arial"/>
              </a:rPr>
              <a:t>50 states + D.C.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4E16B4-AA7E-4A78-8030-9C5D3DA1571C}"/>
              </a:ext>
            </a:extLst>
          </p:cNvPr>
          <p:cNvSpPr>
            <a:spLocks noGrp="1"/>
          </p:cNvSpPr>
          <p:nvPr/>
        </p:nvSpPr>
        <p:spPr>
          <a:xfrm>
            <a:off x="7000875" y="3524250"/>
            <a:ext cx="381000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781"/>
                </a:solidFill>
                <a:latin typeface="Arial"/>
                <a:ea typeface="Arial"/>
                <a:cs typeface="Arial"/>
              </a:rPr>
              <a:t>FARS is a census of qualifying fatal traffic crashes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8CBD50-89D0-408C-A126-2ED91EF0A3F0}"/>
              </a:ext>
            </a:extLst>
          </p:cNvPr>
          <p:cNvSpPr>
            <a:spLocks noGrp="1"/>
          </p:cNvSpPr>
          <p:nvPr/>
        </p:nvSpPr>
        <p:spPr>
          <a:xfrm>
            <a:off x="7000875" y="4524375"/>
            <a:ext cx="3143250" cy="552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25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5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1 crash per row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84AEA3-1F0D-441F-B10F-B2111997F83E}"/>
              </a:ext>
            </a:extLst>
          </p:cNvPr>
          <p:cNvSpPr>
            <a:spLocks noGrp="1"/>
          </p:cNvSpPr>
          <p:nvPr/>
        </p:nvSpPr>
        <p:spPr>
          <a:xfrm>
            <a:off x="7000875" y="5048250"/>
            <a:ext cx="3810000" cy="476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781"/>
                </a:solidFill>
                <a:latin typeface="Arial"/>
                <a:ea typeface="Arial"/>
                <a:cs typeface="Arial"/>
              </a:rPr>
              <a:t>Vehicle records supply speeding involvement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514CCA-44FD-4882-AF7F-844952900093}"/>
              </a:ext>
            </a:extLst>
          </p:cNvPr>
          <p:cNvSpPr>
            <a:spLocks noGrp="1"/>
          </p:cNvSpPr>
          <p:nvPr/>
        </p:nvSpPr>
        <p:spPr>
          <a:xfrm>
            <a:off x="762000" y="5857875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781"/>
                </a:solidFill>
                <a:latin typeface="Arial"/>
                <a:ea typeface="Arial"/>
                <a:cs typeface="Arial"/>
              </a:rPr>
              <a:t>FARS compiles information from police reports, roadway records, death certificates, toxicology reports, and related state records.</a:t>
            </a:r>
          </a:p>
        </p:txBody>
      </p:sp>
    </p:spTree>
    <p:extLst>
      <p:ext uri="{BB962C8B-B14F-4D97-AF65-F5344CB8AC3E}">
        <p14:creationId xmlns:p14="http://schemas.microsoft.com/office/powerpoint/2010/main" val="1899010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402CEB1-57D8-4665-9258-0C15FF50D0A6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28700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Structure, missingness, and cleaning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685765-12E5-4319-9773-77180E49419E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5778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FF8E9B-AD28-4393-8F29-3E6D68E84569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47625"/>
          </a:xfrm>
          <a:prstGeom prst="rect">
            <a:avLst/>
          </a:prstGeom>
          <a:solidFill>
            <a:srgbClr val="0F8B8D"/>
          </a:solidFill>
          <a:ln w="0">
            <a:solidFill>
              <a:srgbClr val="0F8B8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CE5447-0D05-423A-8C53-C27379648CBC}"/>
              </a:ext>
            </a:extLst>
          </p:cNvPr>
          <p:cNvSpPr>
            <a:spLocks noGrp="1"/>
          </p:cNvSpPr>
          <p:nvPr/>
        </p:nvSpPr>
        <p:spPr>
          <a:xfrm>
            <a:off x="704850" y="1476375"/>
            <a:ext cx="2286000" cy="619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28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8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37,769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92164A-20D2-4689-BEB5-682E8DA9870B}"/>
              </a:ext>
            </a:extLst>
          </p:cNvPr>
          <p:cNvSpPr>
            <a:spLocks noGrp="1"/>
          </p:cNvSpPr>
          <p:nvPr/>
        </p:nvSpPr>
        <p:spPr>
          <a:xfrm>
            <a:off x="704850" y="20574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781"/>
                </a:solidFill>
                <a:latin typeface="Arial"/>
                <a:ea typeface="Arial"/>
                <a:cs typeface="Arial"/>
              </a:rPr>
              <a:t>raw crash records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624130-382C-4165-AD82-E6A7A29B7560}"/>
              </a:ext>
            </a:extLst>
          </p:cNvPr>
          <p:cNvSpPr>
            <a:spLocks noGrp="1"/>
          </p:cNvSpPr>
          <p:nvPr/>
        </p:nvSpPr>
        <p:spPr>
          <a:xfrm>
            <a:off x="3371850" y="1476375"/>
            <a:ext cx="2286000" cy="619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28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8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8B8D"/>
                </a:solidFill>
                <a:latin typeface="Arial"/>
                <a:ea typeface="Arial"/>
                <a:cs typeface="Arial"/>
              </a:rPr>
              <a:t>37,580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379185-ACD8-4BA5-8758-28F58C3D3DFD}"/>
              </a:ext>
            </a:extLst>
          </p:cNvPr>
          <p:cNvSpPr>
            <a:spLocks noGrp="1"/>
          </p:cNvSpPr>
          <p:nvPr/>
        </p:nvSpPr>
        <p:spPr>
          <a:xfrm>
            <a:off x="3371850" y="20574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781"/>
                </a:solidFill>
                <a:latin typeface="Arial"/>
                <a:ea typeface="Arial"/>
                <a:cs typeface="Arial"/>
              </a:rPr>
              <a:t>classified as rural or urban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43B655-7875-4E9C-8153-E4014C4EA036}"/>
              </a:ext>
            </a:extLst>
          </p:cNvPr>
          <p:cNvSpPr>
            <a:spLocks noGrp="1"/>
          </p:cNvSpPr>
          <p:nvPr/>
        </p:nvSpPr>
        <p:spPr>
          <a:xfrm>
            <a:off x="6038850" y="1476375"/>
            <a:ext cx="2286000" cy="619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28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8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189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F23771-DE41-4D36-A96B-91C68C05B1AC}"/>
              </a:ext>
            </a:extLst>
          </p:cNvPr>
          <p:cNvSpPr>
            <a:spLocks noGrp="1"/>
          </p:cNvSpPr>
          <p:nvPr/>
        </p:nvSpPr>
        <p:spPr>
          <a:xfrm>
            <a:off x="6038850" y="20574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781"/>
                </a:solidFill>
                <a:latin typeface="Arial"/>
                <a:ea typeface="Arial"/>
                <a:cs typeface="Arial"/>
              </a:rPr>
              <a:t>excluded for unknown location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0D0433-7C87-451F-A6D3-B74E51076FA6}"/>
              </a:ext>
            </a:extLst>
          </p:cNvPr>
          <p:cNvSpPr>
            <a:spLocks noGrp="1"/>
          </p:cNvSpPr>
          <p:nvPr/>
        </p:nvSpPr>
        <p:spPr>
          <a:xfrm>
            <a:off x="8705850" y="1476375"/>
            <a:ext cx="2286000" cy="619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28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l">
              <a:defRPr sz="28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l">
              <a:defRPr sz="28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l">
              <a:defRPr sz="28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l">
              <a:defRPr sz="28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l">
              <a:defRPr sz="28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l">
              <a:defRPr sz="28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l">
              <a:defRPr sz="28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l">
              <a:defRPr sz="28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l">
              <a:defRPr sz="28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8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657781"/>
                </a:solidFill>
                <a:latin typeface="Arial"/>
                <a:ea typeface="Arial"/>
                <a:cs typeface="Arial"/>
              </a:rPr>
              <a:t>3,022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82673B-45A8-4CD6-B8FC-E5C94D7B1415}"/>
              </a:ext>
            </a:extLst>
          </p:cNvPr>
          <p:cNvSpPr>
            <a:spLocks noGrp="1"/>
          </p:cNvSpPr>
          <p:nvPr/>
        </p:nvSpPr>
        <p:spPr>
          <a:xfrm>
            <a:off x="8705850" y="2057400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57781"/>
                </a:solidFill>
                <a:latin typeface="Arial"/>
                <a:ea typeface="Arial"/>
                <a:cs typeface="Arial"/>
              </a:rPr>
              <a:t>unknown speeding status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5AA72-66B8-432D-8B5A-7AEA9EF4D6AF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10668000" cy="19050"/>
          </a:xfrm>
          <a:prstGeom prst="rect">
            <a:avLst/>
          </a:prstGeom>
          <a:solidFill>
            <a:srgbClr val="D7E1E6"/>
          </a:solidFill>
          <a:ln w="0">
            <a:solidFill>
              <a:srgbClr val="D7E1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DB3AF4-24B9-4BF6-97B6-6C06EE3AB546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5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F8B8D"/>
                </a:solidFill>
                <a:latin typeface="Arial"/>
                <a:ea typeface="Arial"/>
                <a:cs typeface="Arial"/>
              </a:rPr>
              <a:t>Cleaning decisions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3E8E26-76D6-4F66-88B8-3FA81FDD641C}"/>
              </a:ext>
            </a:extLst>
          </p:cNvPr>
          <p:cNvSpPr>
            <a:spLocks noGrp="1"/>
          </p:cNvSpPr>
          <p:nvPr/>
        </p:nvSpPr>
        <p:spPr>
          <a:xfrm>
            <a:off x="762000" y="3619500"/>
            <a:ext cx="10287000" cy="20002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5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Keep only crashes coded Rural or Urban</a:t>
            </a:r>
          </a:p>
          <a:p>
            <a:pPr algn="l">
              <a:defRPr sz="15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Mark a crash speed-related when any involved vehicle has a positive speeding code</a:t>
            </a:r>
          </a:p>
          <a:p>
            <a:pPr algn="l">
              <a:defRPr sz="15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Exclude unknown speeding status from the speeding percentage</a:t>
            </a:r>
          </a:p>
          <a:p>
            <a:pPr algn="l">
              <a:defRPr sz="15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Combine functional classes into freeway, arterial, collector, and local roads</a:t>
            </a:r>
          </a:p>
          <a:p>
            <a:pPr algn="l">
              <a:defRPr sz="15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Group rain, snow, fog, wind, sleet, and freezing precipitation as adverse weather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E6885A-26B0-48C4-87DA-015D7E5E3227}"/>
              </a:ext>
            </a:extLst>
          </p:cNvPr>
          <p:cNvSpPr>
            <a:spLocks noGrp="1"/>
          </p:cNvSpPr>
          <p:nvPr/>
        </p:nvSpPr>
        <p:spPr>
          <a:xfrm>
            <a:off x="762000" y="588645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275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Unit of analysis: one fatal crash. FARS does not contain total miles driven, so the charts compare recorded crashes rather than risk per mile.</a:t>
            </a:r>
          </a:p>
        </p:txBody>
      </p:sp>
    </p:spTree>
    <p:extLst>
      <p:ext uri="{BB962C8B-B14F-4D97-AF65-F5344CB8AC3E}">
        <p14:creationId xmlns:p14="http://schemas.microsoft.com/office/powerpoint/2010/main" val="747398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8E28B1F-BB96-4890-BECB-EC94CE7C3855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28700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Urban roads contain most recorded fatal crashes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D0C1FB-97BA-49CC-A032-08959A5391F4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5778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AD8190-D2F2-4DC9-A4A6-0902842E73B5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47625"/>
          </a:xfrm>
          <a:prstGeom prst="rect">
            <a:avLst/>
          </a:prstGeom>
          <a:solidFill>
            <a:srgbClr val="D1495B"/>
          </a:solidFill>
          <a:ln w="0">
            <a:solidFill>
              <a:srgbClr val="D1495B"/>
            </a:solidFill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BEDE78E1-DAEB-4470-93AC-D254D67A3727}"/>
              </a:ext>
            </a:extLst>
          </p:cNvPr>
          <p:cNvGraphicFramePr/>
          <p:nvPr/>
        </p:nvGraphicFramePr>
        <p:xfrm>
          <a:off x="1619250" y="1381125"/>
          <a:ext cx="59055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B82C6372-683B-4E40-AB75-A6AB7235C62E}"/>
              </a:ext>
            </a:extLst>
          </p:cNvPr>
          <p:cNvSpPr>
            <a:spLocks noGrp="1"/>
          </p:cNvSpPr>
          <p:nvPr/>
        </p:nvSpPr>
        <p:spPr>
          <a:xfrm>
            <a:off x="3571875" y="2857500"/>
            <a:ext cx="2000250" cy="5905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ctr">
              <a:defRPr sz="26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ctr">
              <a:defRPr sz="26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ctr">
              <a:defRPr sz="26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ctr">
              <a:defRPr sz="26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ctr">
              <a:defRPr sz="26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ctr">
              <a:defRPr sz="26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ctr">
              <a:defRPr sz="26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ctr">
              <a:defRPr sz="26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ctr">
              <a:defRPr sz="26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ctr">
              <a:defRPr sz="26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26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37,580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996670-13B5-4501-83CB-1530C28019E5}"/>
              </a:ext>
            </a:extLst>
          </p:cNvPr>
          <p:cNvSpPr>
            <a:spLocks noGrp="1"/>
          </p:cNvSpPr>
          <p:nvPr/>
        </p:nvSpPr>
        <p:spPr>
          <a:xfrm>
            <a:off x="3476625" y="3381375"/>
            <a:ext cx="2190750" cy="4191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ctr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781"/>
                </a:solidFill>
                <a:latin typeface="Arial"/>
                <a:ea typeface="Arial"/>
                <a:cs typeface="Arial"/>
              </a:rPr>
              <a:t>classified fatal crashes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B06736-D842-4DA7-8D99-0D10A75DCAAC}"/>
              </a:ext>
            </a:extLst>
          </p:cNvPr>
          <p:cNvSpPr>
            <a:spLocks noGrp="1"/>
          </p:cNvSpPr>
          <p:nvPr/>
        </p:nvSpPr>
        <p:spPr>
          <a:xfrm>
            <a:off x="7953375" y="2000250"/>
            <a:ext cx="266700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30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0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F8B8D"/>
                </a:solidFill>
                <a:latin typeface="Arial"/>
                <a:ea typeface="Arial"/>
                <a:cs typeface="Arial"/>
              </a:rPr>
              <a:t>22,516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F2CD56-5C2E-4A3F-A0A4-11401F1AF6A7}"/>
              </a:ext>
            </a:extLst>
          </p:cNvPr>
          <p:cNvSpPr>
            <a:spLocks noGrp="1"/>
          </p:cNvSpPr>
          <p:nvPr/>
        </p:nvSpPr>
        <p:spPr>
          <a:xfrm>
            <a:off x="7953375" y="2543175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781"/>
                </a:solidFill>
                <a:latin typeface="Arial"/>
                <a:ea typeface="Arial"/>
                <a:cs typeface="Arial"/>
              </a:rPr>
              <a:t>urban fatal crashes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F777E1-FC3F-41FE-9933-146A340DD140}"/>
              </a:ext>
            </a:extLst>
          </p:cNvPr>
          <p:cNvSpPr>
            <a:spLocks noGrp="1"/>
          </p:cNvSpPr>
          <p:nvPr/>
        </p:nvSpPr>
        <p:spPr>
          <a:xfrm>
            <a:off x="7953375" y="3381375"/>
            <a:ext cx="266700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30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30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15,064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A157FC-400A-4A90-B963-A17B18E113E6}"/>
              </a:ext>
            </a:extLst>
          </p:cNvPr>
          <p:cNvSpPr>
            <a:spLocks noGrp="1"/>
          </p:cNvSpPr>
          <p:nvPr/>
        </p:nvSpPr>
        <p:spPr>
          <a:xfrm>
            <a:off x="7953375" y="3924300"/>
            <a:ext cx="2857500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57781"/>
                </a:solidFill>
                <a:latin typeface="Arial"/>
                <a:ea typeface="Arial"/>
                <a:cs typeface="Arial"/>
              </a:rPr>
              <a:t>rural fatal crashes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F2801F-036F-4D11-9B17-80115F9C01DD}"/>
              </a:ext>
            </a:extLst>
          </p:cNvPr>
          <p:cNvSpPr>
            <a:spLocks noGrp="1"/>
          </p:cNvSpPr>
          <p:nvPr/>
        </p:nvSpPr>
        <p:spPr>
          <a:xfrm>
            <a:off x="781050" y="5905500"/>
            <a:ext cx="10620375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Caption: Urban roads accounted for 22,516 fatal crashes, compared with 15,064 on rural roads.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3CC982-7720-4E1C-8730-1FAD767530F6}"/>
              </a:ext>
            </a:extLst>
          </p:cNvPr>
          <p:cNvSpPr>
            <a:spLocks noGrp="1"/>
          </p:cNvSpPr>
          <p:nvPr/>
        </p:nvSpPr>
        <p:spPr>
          <a:xfrm>
            <a:off x="781050" y="6419850"/>
            <a:ext cx="10620375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57781"/>
                </a:solidFill>
                <a:latin typeface="Arial"/>
                <a:ea typeface="Arial"/>
                <a:cs typeface="Arial"/>
              </a:rPr>
              <a:t>Source: NHTSA, 2023 Fatality Analysis Reporting System.</a:t>
            </a:r>
          </a:p>
        </p:txBody>
      </p:sp>
    </p:spTree>
    <p:extLst>
      <p:ext uri="{BB962C8B-B14F-4D97-AF65-F5344CB8AC3E}">
        <p14:creationId xmlns:p14="http://schemas.microsoft.com/office/powerpoint/2010/main" val="1132967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7BCE312-5E90-47F5-B5B2-4093F2E63627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28700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Rural crashes involved more fatalities per crash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91D2DE-B6C2-4B29-AE02-AE487DEA28EA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5778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120461-7E61-4719-9721-C8BF9F44410B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C1D31681-765C-4FD9-B88B-5FAEAA2DC207}"/>
              </a:ext>
            </a:extLst>
          </p:cNvPr>
          <p:cNvGraphicFramePr/>
          <p:nvPr/>
        </p:nvGraphicFramePr>
        <p:xfrm>
          <a:off x="1762125" y="1619250"/>
          <a:ext cx="85725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D570015-7F6A-4238-92E2-F0E769204C27}"/>
              </a:ext>
            </a:extLst>
          </p:cNvPr>
          <p:cNvSpPr>
            <a:spLocks noGrp="1"/>
          </p:cNvSpPr>
          <p:nvPr/>
        </p:nvSpPr>
        <p:spPr>
          <a:xfrm>
            <a:off x="1762125" y="1257300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781"/>
                </a:solidFill>
                <a:latin typeface="Arial"/>
                <a:ea typeface="Arial"/>
                <a:cs typeface="Arial"/>
              </a:rPr>
              <a:t>Fatalities per 100 fatal crashes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A6FD45-D7C4-458C-8D48-5FF0C9579B46}"/>
              </a:ext>
            </a:extLst>
          </p:cNvPr>
          <p:cNvSpPr>
            <a:spLocks noGrp="1"/>
          </p:cNvSpPr>
          <p:nvPr/>
        </p:nvSpPr>
        <p:spPr>
          <a:xfrm>
            <a:off x="7191375" y="125730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r">
              <a:defRPr sz="12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4.7 more fatalities per 100 crashes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E15400-5736-4955-87AB-6484B1B86A80}"/>
              </a:ext>
            </a:extLst>
          </p:cNvPr>
          <p:cNvSpPr>
            <a:spLocks noGrp="1"/>
          </p:cNvSpPr>
          <p:nvPr/>
        </p:nvSpPr>
        <p:spPr>
          <a:xfrm>
            <a:off x="781050" y="5905500"/>
            <a:ext cx="10620375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Caption: Rural crashes averaged 111.5 fatalities per 100 crashes; urban crashes averaged 106.8.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D22014-940A-46CC-83BC-99A58410588B}"/>
              </a:ext>
            </a:extLst>
          </p:cNvPr>
          <p:cNvSpPr>
            <a:spLocks noGrp="1"/>
          </p:cNvSpPr>
          <p:nvPr/>
        </p:nvSpPr>
        <p:spPr>
          <a:xfrm>
            <a:off x="781050" y="6419850"/>
            <a:ext cx="10620375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57781"/>
                </a:solidFill>
                <a:latin typeface="Arial"/>
                <a:ea typeface="Arial"/>
                <a:cs typeface="Arial"/>
              </a:rPr>
              <a:t>Source: NHTSA, 2023 Fatality Analysis Reporting System.</a:t>
            </a:r>
          </a:p>
        </p:txBody>
      </p:sp>
    </p:spTree>
    <p:extLst>
      <p:ext uri="{BB962C8B-B14F-4D97-AF65-F5344CB8AC3E}">
        <p14:creationId xmlns:p14="http://schemas.microsoft.com/office/powerpoint/2010/main" val="2101685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27E19B-50F5-43BC-BDFB-50EB41A018A6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28700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Speeding involvement is nearly equal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45607D-693B-493F-8C44-85B347F2C202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5778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61DF4A-3DC1-4DE3-A5CE-59ED01B4EE3D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47625"/>
          </a:xfrm>
          <a:prstGeom prst="rect">
            <a:avLst/>
          </a:prstGeom>
          <a:solidFill>
            <a:srgbClr val="0F8B8D"/>
          </a:solidFill>
          <a:ln w="0">
            <a:solidFill>
              <a:srgbClr val="0F8B8D"/>
            </a:solidFill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54765305-979E-46E0-A323-82A05B7D4B91}"/>
              </a:ext>
            </a:extLst>
          </p:cNvPr>
          <p:cNvGraphicFramePr/>
          <p:nvPr/>
        </p:nvGraphicFramePr>
        <p:xfrm>
          <a:off x="1762125" y="1666875"/>
          <a:ext cx="8572500" cy="3571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69A3FD1-2720-4FD6-AD21-DE132DE544F7}"/>
              </a:ext>
            </a:extLst>
          </p:cNvPr>
          <p:cNvSpPr>
            <a:spLocks noGrp="1"/>
          </p:cNvSpPr>
          <p:nvPr/>
        </p:nvSpPr>
        <p:spPr>
          <a:xfrm>
            <a:off x="1762125" y="1257300"/>
            <a:ext cx="495300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781"/>
                </a:solidFill>
                <a:latin typeface="Arial"/>
                <a:ea typeface="Arial"/>
                <a:cs typeface="Arial"/>
              </a:rPr>
              <a:t>Share of known-status fatal crashes coded speed-related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138C83-413C-4D8F-A549-17834390AEAA}"/>
              </a:ext>
            </a:extLst>
          </p:cNvPr>
          <p:cNvSpPr>
            <a:spLocks noGrp="1"/>
          </p:cNvSpPr>
          <p:nvPr/>
        </p:nvSpPr>
        <p:spPr>
          <a:xfrm>
            <a:off x="6858000" y="1257300"/>
            <a:ext cx="3476625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r">
              <a:defRPr sz="12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defPPr>
            <a:lvl1pPr algn="r">
              <a:defRPr sz="12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1pPr>
            <a:lvl2pPr algn="r">
              <a:defRPr sz="12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2pPr>
            <a:lvl3pPr algn="r">
              <a:defRPr sz="12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3pPr>
            <a:lvl4pPr algn="r">
              <a:defRPr sz="12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4pPr>
            <a:lvl5pPr algn="r">
              <a:defRPr sz="12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5pPr>
            <a:lvl6pPr algn="r">
              <a:defRPr sz="12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6pPr>
            <a:lvl7pPr algn="r">
              <a:defRPr sz="12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7pPr>
            <a:lvl8pPr algn="r">
              <a:defRPr sz="12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8pPr>
            <a:lvl9pPr algn="r">
              <a:defRPr sz="12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20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8B8D"/>
                </a:solidFill>
                <a:latin typeface="Arial"/>
                <a:ea typeface="Arial"/>
                <a:cs typeface="Arial"/>
              </a:rPr>
              <a:t>Only a 1.0 percentage-point difference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D2CA28-06DB-4532-B382-EF6F057788B3}"/>
              </a:ext>
            </a:extLst>
          </p:cNvPr>
          <p:cNvSpPr>
            <a:spLocks noGrp="1"/>
          </p:cNvSpPr>
          <p:nvPr/>
        </p:nvSpPr>
        <p:spPr>
          <a:xfrm>
            <a:off x="1428750" y="5905500"/>
            <a:ext cx="9972675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Caption: Among crashes with known speeding status, the urban rate was 31.1% and the rural rate was 30.1%.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24AD92-CD99-4179-8518-D338A863AC93}"/>
              </a:ext>
            </a:extLst>
          </p:cNvPr>
          <p:cNvSpPr>
            <a:spLocks noGrp="1"/>
          </p:cNvSpPr>
          <p:nvPr/>
        </p:nvSpPr>
        <p:spPr>
          <a:xfrm>
            <a:off x="1428750" y="6419850"/>
            <a:ext cx="9972675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57781"/>
                </a:solidFill>
                <a:latin typeface="Arial"/>
                <a:ea typeface="Arial"/>
                <a:cs typeface="Arial"/>
              </a:rPr>
              <a:t>Source: NHTSA, 2023 Fatality Analysis Reporting System.</a:t>
            </a:r>
          </a:p>
        </p:txBody>
      </p:sp>
    </p:spTree>
    <p:extLst>
      <p:ext uri="{BB962C8B-B14F-4D97-AF65-F5344CB8AC3E}">
        <p14:creationId xmlns:p14="http://schemas.microsoft.com/office/powerpoint/2010/main" val="1739225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E73BE38-7BB5-44CE-A15C-7C94F19A1152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28700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Roadway mix differs sharply by location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4CDAD6-21DC-4E61-8F96-209BB02C02FF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5778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560328-8EB8-49A1-99CE-53B61AA2ED08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47625"/>
          </a:xfrm>
          <a:prstGeom prst="rect">
            <a:avLst/>
          </a:prstGeom>
          <a:solidFill>
            <a:srgbClr val="D97706"/>
          </a:solidFill>
          <a:ln w="0">
            <a:solidFill>
              <a:srgbClr val="D97706"/>
            </a:solidFill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42461CDD-9318-4CA5-8CBD-79E6D5ACA30C}"/>
              </a:ext>
            </a:extLst>
          </p:cNvPr>
          <p:cNvGraphicFramePr/>
          <p:nvPr/>
        </p:nvGraphicFramePr>
        <p:xfrm>
          <a:off x="952500" y="1571625"/>
          <a:ext cx="10287000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AF15A19-627B-45C4-83A0-3B6C16F4C171}"/>
              </a:ext>
            </a:extLst>
          </p:cNvPr>
          <p:cNvSpPr>
            <a:spLocks noGrp="1"/>
          </p:cNvSpPr>
          <p:nvPr/>
        </p:nvSpPr>
        <p:spPr>
          <a:xfrm>
            <a:off x="476250" y="2095500"/>
            <a:ext cx="6667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r">
              <a:defRPr sz="1125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F8B8D"/>
                </a:solidFill>
                <a:latin typeface="Arial"/>
                <a:ea typeface="Arial"/>
                <a:cs typeface="Arial"/>
              </a:rPr>
              <a:t>Urban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21098F-12F3-4007-9458-B71E9632DC41}"/>
              </a:ext>
            </a:extLst>
          </p:cNvPr>
          <p:cNvSpPr>
            <a:spLocks noGrp="1"/>
          </p:cNvSpPr>
          <p:nvPr/>
        </p:nvSpPr>
        <p:spPr>
          <a:xfrm>
            <a:off x="476250" y="3476625"/>
            <a:ext cx="6667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r">
              <a:defRPr sz="11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Rural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AC03C8-71A4-4FED-BC56-D0A6A69ACD20}"/>
              </a:ext>
            </a:extLst>
          </p:cNvPr>
          <p:cNvSpPr>
            <a:spLocks noGrp="1"/>
          </p:cNvSpPr>
          <p:nvPr/>
        </p:nvSpPr>
        <p:spPr>
          <a:xfrm>
            <a:off x="8239125" y="1257300"/>
            <a:ext cx="276225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r">
              <a:defRPr sz="9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781"/>
                </a:solidFill>
                <a:latin typeface="Arial"/>
                <a:ea typeface="Arial"/>
                <a:cs typeface="Arial"/>
              </a:rPr>
              <a:t>100% of crashes in each location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FB9329-8C41-4482-993F-7D55671D4222}"/>
              </a:ext>
            </a:extLst>
          </p:cNvPr>
          <p:cNvSpPr>
            <a:spLocks noGrp="1"/>
          </p:cNvSpPr>
          <p:nvPr/>
        </p:nvSpPr>
        <p:spPr>
          <a:xfrm>
            <a:off x="1905000" y="5095875"/>
            <a:ext cx="35242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ctr"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Rural: 30.7% collector roads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8063C7-0733-49B1-9A70-FADE914CAE1E}"/>
              </a:ext>
            </a:extLst>
          </p:cNvPr>
          <p:cNvSpPr>
            <a:spLocks noGrp="1"/>
          </p:cNvSpPr>
          <p:nvPr/>
        </p:nvSpPr>
        <p:spPr>
          <a:xfrm>
            <a:off x="6667500" y="5095875"/>
            <a:ext cx="3524250" cy="381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ctr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8B8D"/>
                </a:solidFill>
                <a:latin typeface="Arial"/>
                <a:ea typeface="Arial"/>
                <a:cs typeface="Arial"/>
              </a:rPr>
              <a:t>Urban: 60.4% arterial roads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062F66-F28A-422F-9811-A8039210B010}"/>
              </a:ext>
            </a:extLst>
          </p:cNvPr>
          <p:cNvSpPr>
            <a:spLocks noGrp="1"/>
          </p:cNvSpPr>
          <p:nvPr/>
        </p:nvSpPr>
        <p:spPr>
          <a:xfrm>
            <a:off x="781050" y="5905500"/>
            <a:ext cx="10620375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Caption: Collectors make up 30.7% of rural fatal crashes, while arterials make up 60.4% of urban fatal crashes.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8A5807-FF3A-4E6B-BFC6-27F3B09E5539}"/>
              </a:ext>
            </a:extLst>
          </p:cNvPr>
          <p:cNvSpPr>
            <a:spLocks noGrp="1"/>
          </p:cNvSpPr>
          <p:nvPr/>
        </p:nvSpPr>
        <p:spPr>
          <a:xfrm>
            <a:off x="781050" y="6419850"/>
            <a:ext cx="10620375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57781"/>
                </a:solidFill>
                <a:latin typeface="Arial"/>
                <a:ea typeface="Arial"/>
                <a:cs typeface="Arial"/>
              </a:rPr>
              <a:t>Source: NHTSA, 2023 Fatality Analysis Reporting System.</a:t>
            </a:r>
          </a:p>
        </p:txBody>
      </p:sp>
    </p:spTree>
    <p:extLst>
      <p:ext uri="{BB962C8B-B14F-4D97-AF65-F5344CB8AC3E}">
        <p14:creationId xmlns:p14="http://schemas.microsoft.com/office/powerpoint/2010/main" val="1608785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1272BA-ECDE-4515-BCA0-2C2B8589AFE6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28700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Adverse weather is more common in rural crashes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678E41-49D6-4E6E-85BE-ED783584E12B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5778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DDBAA0-9818-4D6E-B55A-4F742F5E89B1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47625"/>
          </a:xfrm>
          <a:prstGeom prst="rect">
            <a:avLst/>
          </a:prstGeom>
          <a:solidFill>
            <a:srgbClr val="D1495B"/>
          </a:solidFill>
          <a:ln w="0">
            <a:solidFill>
              <a:srgbClr val="D1495B"/>
            </a:solidFill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70136FF8-107B-48E5-A0BC-D821C03FF4DD}"/>
              </a:ext>
            </a:extLst>
          </p:cNvPr>
          <p:cNvGraphicFramePr/>
          <p:nvPr/>
        </p:nvGraphicFramePr>
        <p:xfrm>
          <a:off x="2047875" y="1619250"/>
          <a:ext cx="809625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99AA26D-D514-4F35-AC0B-7B8D1D1617D7}"/>
              </a:ext>
            </a:extLst>
          </p:cNvPr>
          <p:cNvSpPr>
            <a:spLocks noGrp="1"/>
          </p:cNvSpPr>
          <p:nvPr/>
        </p:nvSpPr>
        <p:spPr>
          <a:xfrm>
            <a:off x="2047875" y="1257300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781"/>
                </a:solidFill>
                <a:latin typeface="Arial"/>
                <a:ea typeface="Arial"/>
                <a:cs typeface="Arial"/>
              </a:rPr>
              <a:t>Share of fatal crashes in adverse weather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622D14-BA22-4BA8-AC46-AB4E8BD5FEAE}"/>
              </a:ext>
            </a:extLst>
          </p:cNvPr>
          <p:cNvSpPr>
            <a:spLocks noGrp="1"/>
          </p:cNvSpPr>
          <p:nvPr/>
        </p:nvSpPr>
        <p:spPr>
          <a:xfrm>
            <a:off x="5810250" y="1257300"/>
            <a:ext cx="4333875" cy="285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r">
              <a:defRPr sz="9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97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57781"/>
                </a:solidFill>
                <a:latin typeface="Arial"/>
                <a:ea typeface="Arial"/>
                <a:cs typeface="Arial"/>
              </a:rPr>
              <a:t>Rain, snow, fog, wind, sleet, or freezing precipitation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002471-DDE1-44EB-BE8A-FACD72AB09FB}"/>
              </a:ext>
            </a:extLst>
          </p:cNvPr>
          <p:cNvSpPr>
            <a:spLocks noGrp="1"/>
          </p:cNvSpPr>
          <p:nvPr/>
        </p:nvSpPr>
        <p:spPr>
          <a:xfrm>
            <a:off x="781050" y="5905500"/>
            <a:ext cx="10620375" cy="4000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Caption: Adverse weather appears in 10.2% of rural fatal crashes and 8.4% of urban fatal crashes.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682EE4-5342-44BC-8416-A1A3B0ED6034}"/>
              </a:ext>
            </a:extLst>
          </p:cNvPr>
          <p:cNvSpPr>
            <a:spLocks noGrp="1"/>
          </p:cNvSpPr>
          <p:nvPr/>
        </p:nvSpPr>
        <p:spPr>
          <a:xfrm>
            <a:off x="781050" y="6419850"/>
            <a:ext cx="10620375" cy="1714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750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57781"/>
                </a:solidFill>
                <a:latin typeface="Arial"/>
                <a:ea typeface="Arial"/>
                <a:cs typeface="Arial"/>
              </a:rPr>
              <a:t>Source: NHTSA, 2023 Fatality Analysis Reporting System.</a:t>
            </a:r>
          </a:p>
        </p:txBody>
      </p:sp>
    </p:spTree>
    <p:extLst>
      <p:ext uri="{BB962C8B-B14F-4D97-AF65-F5344CB8AC3E}">
        <p14:creationId xmlns:p14="http://schemas.microsoft.com/office/powerpoint/2010/main" val="666537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A7678B8-7B9C-4BB9-BA7B-048A5E806C11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287000" cy="6096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What the comparison shows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178CF6-7FCF-48FC-878A-C8AE7809657E}"/>
              </a:ext>
            </a:extLst>
          </p:cNvPr>
          <p:cNvSpPr>
            <a:spLocks noGrp="1"/>
          </p:cNvSpPr>
          <p:nvPr/>
        </p:nvSpPr>
        <p:spPr>
          <a:xfrm>
            <a:off x="11049000" y="400050"/>
            <a:ext cx="523875" cy="3429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050" b="1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5778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E1F344-C4D9-44FF-8837-F4DD5A530746}"/>
              </a:ext>
            </a:extLst>
          </p:cNvPr>
          <p:cNvSpPr>
            <a:spLocks noGrp="1"/>
          </p:cNvSpPr>
          <p:nvPr/>
        </p:nvSpPr>
        <p:spPr>
          <a:xfrm>
            <a:off x="666750" y="1066800"/>
            <a:ext cx="10858500" cy="47625"/>
          </a:xfrm>
          <a:prstGeom prst="rect">
            <a:avLst/>
          </a:prstGeom>
          <a:solidFill>
            <a:srgbClr val="D1495B"/>
          </a:solidFill>
          <a:ln w="0">
            <a:solidFill>
              <a:srgbClr val="D1495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475A19-F53D-45C3-A115-51A6A6DB45F8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8B8D"/>
                </a:solidFill>
                <a:latin typeface="Arial"/>
                <a:ea typeface="Arial"/>
                <a:cs typeface="Arial"/>
              </a:rPr>
              <a:t>Urban roads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BDC8D9-6444-44B5-AAD9-79AE56893DA9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4476750" cy="6667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Contain 59.9% of classified fatal crashes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EB17BC-4AC5-415D-9119-EC26011BEF91}"/>
              </a:ext>
            </a:extLst>
          </p:cNvPr>
          <p:cNvSpPr>
            <a:spLocks noGrp="1"/>
          </p:cNvSpPr>
          <p:nvPr/>
        </p:nvSpPr>
        <p:spPr>
          <a:xfrm>
            <a:off x="762000" y="2905125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Rural roads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A2DEB9-CD9C-4F87-88C2-2438510B64DF}"/>
              </a:ext>
            </a:extLst>
          </p:cNvPr>
          <p:cNvSpPr>
            <a:spLocks noGrp="1"/>
          </p:cNvSpPr>
          <p:nvPr/>
        </p:nvSpPr>
        <p:spPr>
          <a:xfrm>
            <a:off x="762000" y="3324225"/>
            <a:ext cx="4762500" cy="100012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Have more fatalities per crash and a larger adverse-weather share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3E3EAD-04C2-4746-88A2-13F8556920AA}"/>
              </a:ext>
            </a:extLst>
          </p:cNvPr>
          <p:cNvSpPr>
            <a:spLocks noGrp="1"/>
          </p:cNvSpPr>
          <p:nvPr/>
        </p:nvSpPr>
        <p:spPr>
          <a:xfrm>
            <a:off x="762000" y="4810125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3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Main distinction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ECF93B-4CE5-4FE4-9A3D-3D68271360E4}"/>
              </a:ext>
            </a:extLst>
          </p:cNvPr>
          <p:cNvSpPr>
            <a:spLocks noGrp="1"/>
          </p:cNvSpPr>
          <p:nvPr/>
        </p:nvSpPr>
        <p:spPr>
          <a:xfrm>
            <a:off x="762000" y="5219700"/>
            <a:ext cx="4762500" cy="76200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Roadway mix differs more than speeding involvement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531C00-3061-477A-884D-7DA5046BA6D3}"/>
              </a:ext>
            </a:extLst>
          </p:cNvPr>
          <p:cNvSpPr>
            <a:spLocks noGrp="1"/>
          </p:cNvSpPr>
          <p:nvPr/>
        </p:nvSpPr>
        <p:spPr>
          <a:xfrm>
            <a:off x="6143625" y="1428750"/>
            <a:ext cx="19050" cy="4429125"/>
          </a:xfrm>
          <a:prstGeom prst="rect">
            <a:avLst/>
          </a:prstGeom>
          <a:solidFill>
            <a:srgbClr val="D7E1E6"/>
          </a:solidFill>
          <a:ln w="0">
            <a:solidFill>
              <a:srgbClr val="D7E1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EB4D44-BB2D-44AC-B69F-9EE8DA8BB525}"/>
              </a:ext>
            </a:extLst>
          </p:cNvPr>
          <p:cNvSpPr>
            <a:spLocks noGrp="1"/>
          </p:cNvSpPr>
          <p:nvPr/>
        </p:nvSpPr>
        <p:spPr>
          <a:xfrm>
            <a:off x="6715125" y="142875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5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D1495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1495B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049707-0AC2-422A-9E61-33E6D3403700}"/>
              </a:ext>
            </a:extLst>
          </p:cNvPr>
          <p:cNvSpPr>
            <a:spLocks noGrp="1"/>
          </p:cNvSpPr>
          <p:nvPr/>
        </p:nvSpPr>
        <p:spPr>
          <a:xfrm>
            <a:off x="6715125" y="1952625"/>
            <a:ext cx="4333875" cy="2238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4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Counts do not measure risk per mile driven</a:t>
            </a:r>
          </a:p>
          <a:p>
            <a:pPr algn="l">
              <a:defRPr sz="14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FARS includes only crashes with a death within 30 days</a:t>
            </a:r>
          </a:p>
          <a:p>
            <a:pPr algn="l">
              <a:defRPr sz="14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Coded variables may contain reporting error</a:t>
            </a:r>
          </a:p>
          <a:p>
            <a:pPr algn="l">
              <a:defRPr sz="14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The analysis describes one year</a:t>
            </a:r>
          </a:p>
          <a:p>
            <a:pPr algn="l">
              <a:defRPr sz="1425" b="0">
                <a:solidFill>
                  <a:srgbClr val="2030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03040"/>
                </a:solidFill>
                <a:latin typeface="Arial"/>
                <a:ea typeface="Arial"/>
                <a:cs typeface="Arial"/>
              </a:rPr>
              <a:t>• Associations do not establish causation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76FF12-86B3-42E6-A7E5-8D104EADEDD1}"/>
              </a:ext>
            </a:extLst>
          </p:cNvPr>
          <p:cNvSpPr>
            <a:spLocks noGrp="1"/>
          </p:cNvSpPr>
          <p:nvPr/>
        </p:nvSpPr>
        <p:spPr>
          <a:xfrm>
            <a:off x="6715125" y="4619625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350" b="1">
                <a:solidFill>
                  <a:srgbClr val="0F8B8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8B8D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899783-C5DE-4A43-8436-40C26AEF1D84}"/>
              </a:ext>
            </a:extLst>
          </p:cNvPr>
          <p:cNvSpPr>
            <a:spLocks noGrp="1"/>
          </p:cNvSpPr>
          <p:nvPr/>
        </p:nvSpPr>
        <p:spPr>
          <a:xfrm>
            <a:off x="6715125" y="5000625"/>
            <a:ext cx="4286250" cy="1095375"/>
          </a:xfrm>
          <a:prstGeom prst="rect">
            <a:avLst/>
          </a:prstGeom>
          <a:noFill/>
          <a:ln w="0">
            <a:noFill/>
          </a:ln>
        </p:spPr>
        <p:txBody>
          <a:bodyPr anchor="ctr"/>
          <a:lstStyle>
            <a:def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781"/>
                </a:solidFill>
                <a:latin typeface="Arial"/>
                <a:ea typeface="Arial"/>
                <a:cs typeface="Arial"/>
              </a:rPr>
              <a:t>NHTSA FARS overview and methodology</a:t>
            </a:r>
          </a:p>
          <a:p>
            <a: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781"/>
                </a:solidFill>
                <a:latin typeface="Arial"/>
                <a:ea typeface="Arial"/>
                <a:cs typeface="Arial"/>
              </a:rPr>
              <a:t>2023 National CSV archive</a:t>
            </a:r>
          </a:p>
          <a:p>
            <a: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781"/>
                </a:solidFill>
                <a:latin typeface="Arial"/>
                <a:ea typeface="Arial"/>
                <a:cs typeface="Arial"/>
              </a:rPr>
              <a:t>FARS Analytical User's Manual</a:t>
            </a:r>
          </a:p>
          <a:p>
            <a:pPr algn="l">
              <a:defRPr sz="1125" b="0">
                <a:solidFill>
                  <a:srgbClr val="65778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781"/>
                </a:solidFill>
                <a:latin typeface="Arial"/>
                <a:ea typeface="Arial"/>
                <a:cs typeface="Arial"/>
              </a:rPr>
              <a:t>DATA 110 Project 1 README</a:t>
            </a:r>
          </a:p>
        </p:txBody>
      </p:sp>
    </p:spTree>
    <p:extLst>
      <p:ext uri="{BB962C8B-B14F-4D97-AF65-F5344CB8AC3E}">
        <p14:creationId xmlns:p14="http://schemas.microsoft.com/office/powerpoint/2010/main" val="1379803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593</Words>
  <Application>Microsoft Office PowerPoint</Application>
  <DocSecurity>0</DocSecurity>
  <PresentationFormat>Widescreen</PresentationFormat>
  <Paragraphs>90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Enda Hughes</cp:lastModifiedBy>
  <cp:revision>1</cp:revision>
  <dcterms:created xsi:type="dcterms:W3CDTF">2026-10-28T22:05:11Z</dcterms:created>
  <dcterms:modified xsi:type="dcterms:W3CDTF">2026-10-28T23:15:12Z</dcterms:modified>
</cp:coreProperties>
</file>